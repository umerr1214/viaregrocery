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Hanken Grotesk SemiBold"/>
      <p:regular r:id="rId17"/>
      <p:bold r:id="rId18"/>
      <p:italic r:id="rId19"/>
      <p:boldItalic r:id="rId20"/>
    </p:embeddedFont>
    <p:embeddedFont>
      <p:font typeface="Montserrat"/>
      <p:regular r:id="rId21"/>
      <p:bold r:id="rId22"/>
      <p:italic r:id="rId23"/>
      <p:boldItalic r:id="rId24"/>
    </p:embeddedFont>
    <p:embeddedFont>
      <p:font typeface="Montserrat Medium"/>
      <p:regular r:id="rId25"/>
      <p:bold r:id="rId26"/>
      <p:italic r:id="rId27"/>
      <p:boldItalic r:id="rId28"/>
    </p:embeddedFont>
    <p:embeddedFont>
      <p:font typeface="Open Sans SemiBold"/>
      <p:regular r:id="rId29"/>
      <p:bold r:id="rId30"/>
      <p:italic r:id="rId31"/>
      <p:boldItalic r:id="rId32"/>
    </p:embeddedFont>
    <p:embeddedFont>
      <p:font typeface="Montserrat Light"/>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font" Target="fonts/HankenGroteskSemiBold-boldItalic.fntdata"/><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Medium-bold.fntdata"/><Relationship Id="rId25" Type="http://schemas.openxmlformats.org/officeDocument/2006/relationships/font" Target="fonts/MontserratMedium-regular.fntdata"/><Relationship Id="rId28" Type="http://schemas.openxmlformats.org/officeDocument/2006/relationships/font" Target="fonts/MontserratMedium-boldItalic.fntdata"/><Relationship Id="rId27" Type="http://schemas.openxmlformats.org/officeDocument/2006/relationships/font" Target="fonts/Montserrat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SemiBold-italic.fntdata"/><Relationship Id="rId30" Type="http://schemas.openxmlformats.org/officeDocument/2006/relationships/font" Target="fonts/OpenSansSemiBold-bold.fntdata"/><Relationship Id="rId11" Type="http://schemas.openxmlformats.org/officeDocument/2006/relationships/slide" Target="slides/slide6.xml"/><Relationship Id="rId33" Type="http://schemas.openxmlformats.org/officeDocument/2006/relationships/font" Target="fonts/MontserratLight-regular.fntdata"/><Relationship Id="rId10" Type="http://schemas.openxmlformats.org/officeDocument/2006/relationships/slide" Target="slides/slide5.xml"/><Relationship Id="rId32" Type="http://schemas.openxmlformats.org/officeDocument/2006/relationships/font" Target="fonts/OpenSansSemiBold-boldItalic.fntdata"/><Relationship Id="rId13" Type="http://schemas.openxmlformats.org/officeDocument/2006/relationships/slide" Target="slides/slide8.xml"/><Relationship Id="rId35" Type="http://schemas.openxmlformats.org/officeDocument/2006/relationships/font" Target="fonts/MontserratLight-italic.fntdata"/><Relationship Id="rId12" Type="http://schemas.openxmlformats.org/officeDocument/2006/relationships/slide" Target="slides/slide7.xml"/><Relationship Id="rId34" Type="http://schemas.openxmlformats.org/officeDocument/2006/relationships/font" Target="fonts/MontserratLight-bold.fntdata"/><Relationship Id="rId15" Type="http://schemas.openxmlformats.org/officeDocument/2006/relationships/slide" Target="slides/slide10.xml"/><Relationship Id="rId37" Type="http://schemas.openxmlformats.org/officeDocument/2006/relationships/font" Target="fonts/OpenSans-regular.fntdata"/><Relationship Id="rId14" Type="http://schemas.openxmlformats.org/officeDocument/2006/relationships/slide" Target="slides/slide9.xml"/><Relationship Id="rId36" Type="http://schemas.openxmlformats.org/officeDocument/2006/relationships/font" Target="fonts/MontserratLight-boldItalic.fntdata"/><Relationship Id="rId17" Type="http://schemas.openxmlformats.org/officeDocument/2006/relationships/font" Target="fonts/HankenGroteskSemiBold-regular.fntdata"/><Relationship Id="rId39" Type="http://schemas.openxmlformats.org/officeDocument/2006/relationships/font" Target="fonts/OpenSans-italic.fntdata"/><Relationship Id="rId16" Type="http://schemas.openxmlformats.org/officeDocument/2006/relationships/slide" Target="slides/slide11.xml"/><Relationship Id="rId38" Type="http://schemas.openxmlformats.org/officeDocument/2006/relationships/font" Target="fonts/OpenSans-bold.fntdata"/><Relationship Id="rId19" Type="http://schemas.openxmlformats.org/officeDocument/2006/relationships/font" Target="fonts/HankenGroteskSemiBold-italic.fntdata"/><Relationship Id="rId18" Type="http://schemas.openxmlformats.org/officeDocument/2006/relationships/font" Target="fonts/HankenGrotesk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44bcf439d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44bcf439d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44bcf439d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44bcf439d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4bcf439d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4bcf439d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4bcf439d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44bcf439d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4bcf439d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4bcf439d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4bcf439d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44bcf439db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44bcf439db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44bcf439db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4bcf439d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44bcf439d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4bcf439d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4bcf439d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44bcf439db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44bcf439db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50750" y="3941775"/>
            <a:ext cx="7667100" cy="99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GB" sz="1700">
                <a:solidFill>
                  <a:srgbClr val="E0F7F5"/>
                </a:solidFill>
                <a:latin typeface="Open Sans SemiBold"/>
                <a:ea typeface="Open Sans SemiBold"/>
                <a:cs typeface="Open Sans SemiBold"/>
                <a:sym typeface="Open Sans SemiBold"/>
              </a:rPr>
              <a:t>A Product by </a:t>
            </a:r>
            <a:r>
              <a:rPr lang="en-GB" sz="1700">
                <a:solidFill>
                  <a:srgbClr val="E0F7F5"/>
                </a:solidFill>
                <a:latin typeface="Open Sans SemiBold"/>
                <a:ea typeface="Open Sans SemiBold"/>
                <a:cs typeface="Open Sans SemiBold"/>
                <a:sym typeface="Open Sans SemiBold"/>
              </a:rPr>
              <a:t>Shahi Tukre</a:t>
            </a:r>
            <a:br>
              <a:rPr lang="en-GB" sz="1700">
                <a:solidFill>
                  <a:srgbClr val="E0F7F5"/>
                </a:solidFill>
                <a:latin typeface="Open Sans SemiBold"/>
                <a:ea typeface="Open Sans SemiBold"/>
                <a:cs typeface="Open Sans SemiBold"/>
                <a:sym typeface="Open Sans SemiBold"/>
              </a:rPr>
            </a:br>
            <a:r>
              <a:rPr lang="en-GB" sz="1700">
                <a:solidFill>
                  <a:srgbClr val="E0F7F5"/>
                </a:solidFill>
                <a:latin typeface="Open Sans SemiBold"/>
                <a:ea typeface="Open Sans SemiBold"/>
                <a:cs typeface="Open Sans SemiBold"/>
                <a:sym typeface="Open Sans SemiBold"/>
              </a:rPr>
              <a:t>The Shahi: Muhammad Umer</a:t>
            </a:r>
            <a:endParaRPr sz="1700">
              <a:solidFill>
                <a:srgbClr val="E0F7F5"/>
              </a:solidFill>
              <a:latin typeface="Open Sans SemiBold"/>
              <a:ea typeface="Open Sans SemiBold"/>
              <a:cs typeface="Open Sans SemiBold"/>
              <a:sym typeface="Open Sans SemiBold"/>
            </a:endParaRPr>
          </a:p>
          <a:p>
            <a:pPr indent="0" lvl="0" marL="0" rtl="0" algn="l">
              <a:spcBef>
                <a:spcPts val="0"/>
              </a:spcBef>
              <a:spcAft>
                <a:spcPts val="0"/>
              </a:spcAft>
              <a:buSzPts val="990"/>
              <a:buNone/>
            </a:pPr>
            <a:r>
              <a:rPr lang="en-GB" sz="1700">
                <a:solidFill>
                  <a:srgbClr val="E0F7F5"/>
                </a:solidFill>
                <a:latin typeface="Open Sans SemiBold"/>
                <a:ea typeface="Open Sans SemiBold"/>
                <a:cs typeface="Open Sans SemiBold"/>
                <a:sym typeface="Open Sans SemiBold"/>
              </a:rPr>
              <a:t>The Tukra: Eesha Waqar</a:t>
            </a:r>
            <a:endParaRPr sz="1700">
              <a:solidFill>
                <a:srgbClr val="E0F7F5"/>
              </a:solidFill>
              <a:latin typeface="Open Sans SemiBold"/>
              <a:ea typeface="Open Sans SemiBold"/>
              <a:cs typeface="Open Sans SemiBold"/>
              <a:sym typeface="Open Sans SemiBold"/>
            </a:endParaRPr>
          </a:p>
        </p:txBody>
      </p:sp>
      <p:sp>
        <p:nvSpPr>
          <p:cNvPr id="55" name="Google Shape;55;p13"/>
          <p:cNvSpPr txBox="1"/>
          <p:nvPr>
            <p:ph idx="1" type="subTitle"/>
          </p:nvPr>
        </p:nvSpPr>
        <p:spPr>
          <a:xfrm>
            <a:off x="1024166" y="1594267"/>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865"/>
              <a:buNone/>
            </a:pPr>
            <a:r>
              <a:rPr lang="en-GB" sz="5500">
                <a:solidFill>
                  <a:srgbClr val="E0F7F5"/>
                </a:solidFill>
                <a:latin typeface="Hanken Grotesk SemiBold"/>
                <a:ea typeface="Hanken Grotesk SemiBold"/>
                <a:cs typeface="Hanken Grotesk SemiBold"/>
                <a:sym typeface="Hanken Grotesk SemiBold"/>
              </a:rPr>
              <a:t>Viare Grocery</a:t>
            </a:r>
            <a:endParaRPr sz="5500">
              <a:solidFill>
                <a:srgbClr val="E0F7F5"/>
              </a:solidFill>
              <a:latin typeface="Hanken Grotesk SemiBold"/>
              <a:ea typeface="Hanken Grotesk SemiBold"/>
              <a:cs typeface="Hanken Grotesk SemiBold"/>
              <a:sym typeface="Hanken Grotesk SemiBold"/>
            </a:endParaRPr>
          </a:p>
        </p:txBody>
      </p:sp>
      <p:pic>
        <p:nvPicPr>
          <p:cNvPr id="56" name="Google Shape;56;p13" title="Group 1410125860.png"/>
          <p:cNvPicPr preferRelativeResize="0"/>
          <p:nvPr/>
        </p:nvPicPr>
        <p:blipFill>
          <a:blip r:embed="rId3">
            <a:alphaModFix/>
          </a:blip>
          <a:stretch>
            <a:fillRect/>
          </a:stretch>
        </p:blipFill>
        <p:spPr>
          <a:xfrm>
            <a:off x="350750" y="454825"/>
            <a:ext cx="2724101" cy="345850"/>
          </a:xfrm>
          <a:prstGeom prst="rect">
            <a:avLst/>
          </a:prstGeom>
          <a:noFill/>
          <a:ln>
            <a:noFill/>
          </a:ln>
          <a:effectLst>
            <a:outerShdw blurRad="57150" rotWithShape="0" algn="bl" dir="5400000" dist="19050">
              <a:srgbClr val="000000">
                <a:alpha val="50000"/>
              </a:srgbClr>
            </a:outerShdw>
          </a:effectLst>
        </p:spPr>
      </p:pic>
      <p:pic>
        <p:nvPicPr>
          <p:cNvPr id="57" name="Google Shape;57;p13" title="Group 1410125846 (1).png"/>
          <p:cNvPicPr preferRelativeResize="0"/>
          <p:nvPr/>
        </p:nvPicPr>
        <p:blipFill>
          <a:blip r:embed="rId4">
            <a:alphaModFix/>
          </a:blip>
          <a:stretch>
            <a:fillRect/>
          </a:stretch>
        </p:blipFill>
        <p:spPr>
          <a:xfrm>
            <a:off x="6623100" y="0"/>
            <a:ext cx="2520899" cy="1566948"/>
          </a:xfrm>
          <a:prstGeom prst="rect">
            <a:avLst/>
          </a:prstGeom>
          <a:noFill/>
          <a:ln>
            <a:noFill/>
          </a:ln>
        </p:spPr>
      </p:pic>
      <p:sp>
        <p:nvSpPr>
          <p:cNvPr id="58" name="Google Shape;58;p13"/>
          <p:cNvSpPr txBox="1"/>
          <p:nvPr/>
        </p:nvSpPr>
        <p:spPr>
          <a:xfrm>
            <a:off x="2056050" y="2447100"/>
            <a:ext cx="5489100" cy="5541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ctr">
              <a:spcBef>
                <a:spcPts val="0"/>
              </a:spcBef>
              <a:spcAft>
                <a:spcPts val="0"/>
              </a:spcAft>
              <a:buNone/>
            </a:pPr>
            <a:r>
              <a:rPr lang="en-GB" sz="1200">
                <a:solidFill>
                  <a:srgbClr val="E0F7F5"/>
                </a:solidFill>
                <a:latin typeface="Montserrat Light"/>
                <a:ea typeface="Montserrat Light"/>
                <a:cs typeface="Montserrat Light"/>
                <a:sym typeface="Montserrat Light"/>
              </a:rPr>
              <a:t>T</a:t>
            </a:r>
            <a:r>
              <a:rPr lang="en-GB" sz="1200">
                <a:solidFill>
                  <a:srgbClr val="E0F7F5"/>
                </a:solidFill>
                <a:latin typeface="Montserrat Light"/>
                <a:ea typeface="Montserrat Light"/>
                <a:cs typeface="Montserrat Light"/>
                <a:sym typeface="Montserrat Light"/>
              </a:rPr>
              <a:t>ransform your in-store shopping with AI—get smart comparisons, instant substitutions, and the fastest path to everything you need.</a:t>
            </a:r>
            <a:endParaRPr sz="1200">
              <a:solidFill>
                <a:srgbClr val="E0F7F5"/>
              </a:solidFill>
              <a:latin typeface="Montserrat Light"/>
              <a:ea typeface="Montserrat Light"/>
              <a:cs typeface="Montserrat Light"/>
              <a:sym typeface="Montserrat Light"/>
            </a:endParaRPr>
          </a:p>
        </p:txBody>
      </p:sp>
      <p:pic>
        <p:nvPicPr>
          <p:cNvPr id="59" name="Google Shape;59;p13" title="logo.png"/>
          <p:cNvPicPr preferRelativeResize="0"/>
          <p:nvPr/>
        </p:nvPicPr>
        <p:blipFill>
          <a:blip r:embed="rId5">
            <a:alphaModFix/>
          </a:blip>
          <a:stretch>
            <a:fillRect/>
          </a:stretch>
        </p:blipFill>
        <p:spPr>
          <a:xfrm>
            <a:off x="575900" y="1345013"/>
            <a:ext cx="1804675" cy="18046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63" name="Shape 63"/>
        <p:cNvGrpSpPr/>
        <p:nvPr/>
      </p:nvGrpSpPr>
      <p:grpSpPr>
        <a:xfrm>
          <a:off x="0" y="0"/>
          <a:ext cx="0" cy="0"/>
          <a:chOff x="0" y="0"/>
          <a:chExt cx="0" cy="0"/>
        </a:xfrm>
      </p:grpSpPr>
      <p:sp>
        <p:nvSpPr>
          <p:cNvPr id="64" name="Google Shape;64;p14"/>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Business Viability</a:t>
            </a:r>
            <a:endParaRPr sz="2600">
              <a:solidFill>
                <a:srgbClr val="E0F7F5"/>
              </a:solidFill>
              <a:latin typeface="Montserrat"/>
              <a:ea typeface="Montserrat"/>
              <a:cs typeface="Montserrat"/>
              <a:sym typeface="Montserrat"/>
            </a:endParaRPr>
          </a:p>
        </p:txBody>
      </p:sp>
      <p:pic>
        <p:nvPicPr>
          <p:cNvPr id="65" name="Google Shape;65;p14"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66" name="Google Shape;66;p14"/>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67" name="Google Shape;67;p14"/>
          <p:cNvSpPr txBox="1"/>
          <p:nvPr/>
        </p:nvSpPr>
        <p:spPr>
          <a:xfrm>
            <a:off x="8464350" y="4546225"/>
            <a:ext cx="4503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02</a:t>
            </a:r>
            <a:endParaRPr sz="1300"/>
          </a:p>
        </p:txBody>
      </p:sp>
      <p:pic>
        <p:nvPicPr>
          <p:cNvPr id="68" name="Google Shape;68;p14"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69" name="Google Shape;69;p14"/>
          <p:cNvSpPr txBox="1"/>
          <p:nvPr/>
        </p:nvSpPr>
        <p:spPr>
          <a:xfrm>
            <a:off x="226800" y="954213"/>
            <a:ext cx="5717700" cy="214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300"/>
              </a:spcBef>
              <a:spcAft>
                <a:spcPts val="0"/>
              </a:spcAft>
              <a:buNone/>
            </a:pPr>
            <a:r>
              <a:rPr b="1" lang="en-GB" sz="1900">
                <a:solidFill>
                  <a:srgbClr val="E0F7F5"/>
                </a:solidFill>
                <a:latin typeface="Montserrat"/>
                <a:ea typeface="Montserrat"/>
                <a:cs typeface="Montserrat"/>
                <a:sym typeface="Montserrat"/>
              </a:rPr>
              <a:t>Everyone's solving online shopping—but what about real stores?</a:t>
            </a:r>
            <a:endParaRPr b="1" sz="1900">
              <a:solidFill>
                <a:srgbClr val="E0F7F5"/>
              </a:solidFill>
              <a:latin typeface="Montserrat"/>
              <a:ea typeface="Montserrat"/>
              <a:cs typeface="Montserrat"/>
              <a:sym typeface="Montserrat"/>
            </a:endParaRPr>
          </a:p>
          <a:p>
            <a:pPr indent="0" lvl="0" marL="0" rtl="0" algn="l">
              <a:lnSpc>
                <a:spcPct val="115000"/>
              </a:lnSpc>
              <a:spcBef>
                <a:spcPts val="1300"/>
              </a:spcBef>
              <a:spcAft>
                <a:spcPts val="1300"/>
              </a:spcAft>
              <a:buNone/>
            </a:pPr>
            <a:r>
              <a:rPr lang="en-GB" sz="1300">
                <a:solidFill>
                  <a:srgbClr val="E0F7F5"/>
                </a:solidFill>
                <a:latin typeface="Montserrat"/>
                <a:ea typeface="Montserrat"/>
                <a:cs typeface="Montserrat"/>
                <a:sym typeface="Montserrat"/>
              </a:rPr>
              <a:t>70% still shop in-store—but they want speed, ease, and personalization. Viare is built for those who  </a:t>
            </a:r>
            <a:r>
              <a:rPr i="1" lang="en-GB" sz="1300">
                <a:solidFill>
                  <a:srgbClr val="E0F7F5"/>
                </a:solidFill>
                <a:latin typeface="Montserrat"/>
                <a:ea typeface="Montserrat"/>
                <a:cs typeface="Montserrat"/>
                <a:sym typeface="Montserrat"/>
              </a:rPr>
              <a:t>still walk the aisles</a:t>
            </a:r>
            <a:r>
              <a:rPr lang="en-GB" sz="1300">
                <a:solidFill>
                  <a:srgbClr val="E0F7F5"/>
                </a:solidFill>
                <a:latin typeface="Montserrat"/>
                <a:ea typeface="Montserrat"/>
                <a:cs typeface="Montserrat"/>
                <a:sym typeface="Montserrat"/>
              </a:rPr>
              <a:t>—but face confusion, delays, and out-of-stock frustrations. We bring AI to the real world through Viare Grocery,  making in-store shopping just as smart, smooth, and satisfying as online.</a:t>
            </a:r>
            <a:endParaRPr sz="1600">
              <a:solidFill>
                <a:srgbClr val="E0F7F5"/>
              </a:solidFill>
              <a:latin typeface="Montserrat"/>
              <a:ea typeface="Montserrat"/>
              <a:cs typeface="Montserrat"/>
              <a:sym typeface="Montserrat"/>
            </a:endParaRPr>
          </a:p>
        </p:txBody>
      </p:sp>
      <p:sp>
        <p:nvSpPr>
          <p:cNvPr id="70" name="Google Shape;70;p14"/>
          <p:cNvSpPr txBox="1"/>
          <p:nvPr/>
        </p:nvSpPr>
        <p:spPr>
          <a:xfrm>
            <a:off x="226800" y="3162200"/>
            <a:ext cx="5572200" cy="11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300"/>
              </a:spcBef>
              <a:spcAft>
                <a:spcPts val="1300"/>
              </a:spcAft>
              <a:buNone/>
            </a:pPr>
            <a:r>
              <a:rPr b="1" lang="en-GB" sz="1900">
                <a:solidFill>
                  <a:srgbClr val="E0F7F5"/>
                </a:solidFill>
                <a:latin typeface="Montserrat"/>
                <a:ea typeface="Montserrat"/>
                <a:cs typeface="Montserrat"/>
                <a:sym typeface="Montserrat"/>
              </a:rPr>
              <a:t>We’re Not Just Another App</a:t>
            </a:r>
            <a:br>
              <a:rPr lang="en-GB" sz="1100">
                <a:solidFill>
                  <a:srgbClr val="E0F7F5"/>
                </a:solidFill>
                <a:latin typeface="Montserrat"/>
                <a:ea typeface="Montserrat"/>
                <a:cs typeface="Montserrat"/>
                <a:sym typeface="Montserrat"/>
              </a:rPr>
            </a:br>
            <a:r>
              <a:rPr lang="en-GB" sz="1300">
                <a:solidFill>
                  <a:srgbClr val="E0F7F5"/>
                </a:solidFill>
                <a:latin typeface="Montserrat"/>
                <a:ea typeface="Montserrat"/>
                <a:cs typeface="Montserrat"/>
                <a:sym typeface="Montserrat"/>
              </a:rPr>
              <a:t> Forget boring store apps. Viare gives smart comparisons, instant swaps, and the fastest path to your groceries—like Google Maps, but for shopping!</a:t>
            </a:r>
            <a:endParaRPr sz="1300">
              <a:solidFill>
                <a:srgbClr val="E0F7F5"/>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74" name="Shape 74"/>
        <p:cNvGrpSpPr/>
        <p:nvPr/>
      </p:nvGrpSpPr>
      <p:grpSpPr>
        <a:xfrm>
          <a:off x="0" y="0"/>
          <a:ext cx="0" cy="0"/>
          <a:chOff x="0" y="0"/>
          <a:chExt cx="0" cy="0"/>
        </a:xfrm>
      </p:grpSpPr>
      <p:sp>
        <p:nvSpPr>
          <p:cNvPr id="75" name="Google Shape;75;p15"/>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Project Demo</a:t>
            </a:r>
            <a:endParaRPr sz="2600">
              <a:solidFill>
                <a:srgbClr val="E0F7F5"/>
              </a:solidFill>
              <a:latin typeface="Montserrat"/>
              <a:ea typeface="Montserrat"/>
              <a:cs typeface="Montserrat"/>
              <a:sym typeface="Montserrat"/>
            </a:endParaRPr>
          </a:p>
        </p:txBody>
      </p:sp>
      <p:pic>
        <p:nvPicPr>
          <p:cNvPr id="76" name="Google Shape;76;p15"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77" name="Google Shape;77;p15"/>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78" name="Google Shape;78;p15"/>
          <p:cNvSpPr txBox="1"/>
          <p:nvPr/>
        </p:nvSpPr>
        <p:spPr>
          <a:xfrm>
            <a:off x="8464350" y="4546225"/>
            <a:ext cx="4503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03</a:t>
            </a:r>
            <a:endParaRPr sz="1300"/>
          </a:p>
        </p:txBody>
      </p:sp>
      <p:pic>
        <p:nvPicPr>
          <p:cNvPr id="79" name="Google Shape;79;p15"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80" name="Google Shape;80;p15"/>
          <p:cNvSpPr txBox="1"/>
          <p:nvPr/>
        </p:nvSpPr>
        <p:spPr>
          <a:xfrm>
            <a:off x="1967700" y="1784650"/>
            <a:ext cx="5208600" cy="569400"/>
          </a:xfrm>
          <a:prstGeom prst="rect">
            <a:avLst/>
          </a:prstGeom>
          <a:solidFill>
            <a:srgbClr val="A08F9A"/>
          </a:solidFill>
          <a:ln>
            <a:noFill/>
          </a:ln>
        </p:spPr>
        <p:txBody>
          <a:bodyPr anchorCtr="0" anchor="t" bIns="91425" lIns="91425" spcFirstLastPara="1" rIns="91425" wrap="square" tIns="91425">
            <a:spAutoFit/>
          </a:bodyPr>
          <a:lstStyle/>
          <a:p>
            <a:pPr indent="0" lvl="0" marL="0" rtl="0" algn="ctr">
              <a:lnSpc>
                <a:spcPct val="100000"/>
              </a:lnSpc>
              <a:spcBef>
                <a:spcPts val="1400"/>
              </a:spcBef>
              <a:spcAft>
                <a:spcPts val="400"/>
              </a:spcAft>
              <a:buNone/>
            </a:pPr>
            <a:r>
              <a:rPr lang="en-GB" sz="2500">
                <a:solidFill>
                  <a:srgbClr val="E0F7F5"/>
                </a:solidFill>
                <a:latin typeface="Montserrat Medium"/>
                <a:ea typeface="Montserrat Medium"/>
                <a:cs typeface="Montserrat Medium"/>
                <a:sym typeface="Montserrat Medium"/>
              </a:rPr>
              <a:t>Step 1: </a:t>
            </a:r>
            <a:r>
              <a:rPr lang="en-GB" sz="2500">
                <a:solidFill>
                  <a:srgbClr val="E0F7F5"/>
                </a:solidFill>
                <a:latin typeface="Montserrat Medium"/>
                <a:ea typeface="Montserrat Medium"/>
                <a:cs typeface="Montserrat Medium"/>
                <a:sym typeface="Montserrat Medium"/>
              </a:rPr>
              <a:t>Sign Up &amp; Get on Board</a:t>
            </a:r>
            <a:endParaRPr sz="1300">
              <a:solidFill>
                <a:schemeClr val="dk1"/>
              </a:solidFill>
            </a:endParaRPr>
          </a:p>
        </p:txBody>
      </p:sp>
      <p:sp>
        <p:nvSpPr>
          <p:cNvPr id="81" name="Google Shape;81;p15"/>
          <p:cNvSpPr txBox="1"/>
          <p:nvPr/>
        </p:nvSpPr>
        <p:spPr>
          <a:xfrm>
            <a:off x="1967700" y="2571750"/>
            <a:ext cx="5208600" cy="99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300"/>
              </a:spcBef>
              <a:spcAft>
                <a:spcPts val="1300"/>
              </a:spcAft>
              <a:buNone/>
            </a:pPr>
            <a:r>
              <a:rPr lang="en-GB" sz="1600">
                <a:solidFill>
                  <a:srgbClr val="E0F7F5"/>
                </a:solidFill>
                <a:latin typeface="Open Sans"/>
                <a:ea typeface="Open Sans"/>
                <a:cs typeface="Open Sans"/>
                <a:sym typeface="Open Sans"/>
              </a:rPr>
              <a:t>Just tell us your name, email, and a secret password — and boom, you're in! Your smart shopping journey starts here. </a:t>
            </a:r>
            <a:endParaRPr sz="1600">
              <a:solidFill>
                <a:srgbClr val="E0F7F5"/>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85" name="Shape 85"/>
        <p:cNvGrpSpPr/>
        <p:nvPr/>
      </p:nvGrpSpPr>
      <p:grpSpPr>
        <a:xfrm>
          <a:off x="0" y="0"/>
          <a:ext cx="0" cy="0"/>
          <a:chOff x="0" y="0"/>
          <a:chExt cx="0" cy="0"/>
        </a:xfrm>
      </p:grpSpPr>
      <p:sp>
        <p:nvSpPr>
          <p:cNvPr id="86" name="Google Shape;86;p16"/>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Project Demo</a:t>
            </a:r>
            <a:endParaRPr sz="2600">
              <a:solidFill>
                <a:srgbClr val="E0F7F5"/>
              </a:solidFill>
              <a:latin typeface="Montserrat"/>
              <a:ea typeface="Montserrat"/>
              <a:cs typeface="Montserrat"/>
              <a:sym typeface="Montserrat"/>
            </a:endParaRPr>
          </a:p>
        </p:txBody>
      </p:sp>
      <p:pic>
        <p:nvPicPr>
          <p:cNvPr id="87" name="Google Shape;87;p16"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88" name="Google Shape;88;p16"/>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89" name="Google Shape;89;p16"/>
          <p:cNvSpPr txBox="1"/>
          <p:nvPr/>
        </p:nvSpPr>
        <p:spPr>
          <a:xfrm>
            <a:off x="8464350" y="4546225"/>
            <a:ext cx="6795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04</a:t>
            </a:r>
            <a:endParaRPr sz="1300"/>
          </a:p>
        </p:txBody>
      </p:sp>
      <p:pic>
        <p:nvPicPr>
          <p:cNvPr id="90" name="Google Shape;90;p16"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91" name="Google Shape;91;p16"/>
          <p:cNvSpPr txBox="1"/>
          <p:nvPr/>
        </p:nvSpPr>
        <p:spPr>
          <a:xfrm>
            <a:off x="1792500" y="1784650"/>
            <a:ext cx="5559300" cy="569400"/>
          </a:xfrm>
          <a:prstGeom prst="rect">
            <a:avLst/>
          </a:prstGeom>
          <a:solidFill>
            <a:srgbClr val="A08F9A"/>
          </a:solidFill>
          <a:ln>
            <a:noFill/>
          </a:ln>
        </p:spPr>
        <p:txBody>
          <a:bodyPr anchorCtr="0" anchor="t" bIns="91425" lIns="91425" spcFirstLastPara="1" rIns="91425" wrap="square" tIns="91425">
            <a:spAutoFit/>
          </a:bodyPr>
          <a:lstStyle/>
          <a:p>
            <a:pPr indent="0" lvl="0" marL="0" rtl="0" algn="ctr">
              <a:lnSpc>
                <a:spcPct val="100000"/>
              </a:lnSpc>
              <a:spcBef>
                <a:spcPts val="1400"/>
              </a:spcBef>
              <a:spcAft>
                <a:spcPts val="400"/>
              </a:spcAft>
              <a:buNone/>
            </a:pPr>
            <a:r>
              <a:rPr lang="en-GB" sz="2500">
                <a:solidFill>
                  <a:srgbClr val="E0F7F5"/>
                </a:solidFill>
                <a:latin typeface="Montserrat Medium"/>
                <a:ea typeface="Montserrat Medium"/>
                <a:cs typeface="Montserrat Medium"/>
                <a:sym typeface="Montserrat Medium"/>
              </a:rPr>
              <a:t>Step 2: Sign In &amp; Step In</a:t>
            </a:r>
            <a:endParaRPr sz="1300">
              <a:solidFill>
                <a:schemeClr val="dk1"/>
              </a:solidFill>
            </a:endParaRPr>
          </a:p>
        </p:txBody>
      </p:sp>
      <p:sp>
        <p:nvSpPr>
          <p:cNvPr id="92" name="Google Shape;92;p16"/>
          <p:cNvSpPr txBox="1"/>
          <p:nvPr/>
        </p:nvSpPr>
        <p:spPr>
          <a:xfrm>
            <a:off x="1792800" y="2571750"/>
            <a:ext cx="5559300" cy="99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300"/>
              </a:spcBef>
              <a:spcAft>
                <a:spcPts val="1300"/>
              </a:spcAft>
              <a:buNone/>
            </a:pPr>
            <a:r>
              <a:rPr lang="en-GB" sz="1600">
                <a:solidFill>
                  <a:srgbClr val="E0F7F5"/>
                </a:solidFill>
                <a:latin typeface="Open Sans"/>
                <a:ea typeface="Open Sans"/>
                <a:cs typeface="Open Sans"/>
                <a:sym typeface="Open Sans"/>
              </a:rPr>
              <a:t>Log in with your email and password — your AI-powered shopping buddy is waiting to guide you through the store! </a:t>
            </a:r>
            <a:endParaRPr sz="1600">
              <a:solidFill>
                <a:srgbClr val="E0F7F5"/>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96" name="Shape 96"/>
        <p:cNvGrpSpPr/>
        <p:nvPr/>
      </p:nvGrpSpPr>
      <p:grpSpPr>
        <a:xfrm>
          <a:off x="0" y="0"/>
          <a:ext cx="0" cy="0"/>
          <a:chOff x="0" y="0"/>
          <a:chExt cx="0" cy="0"/>
        </a:xfrm>
      </p:grpSpPr>
      <p:sp>
        <p:nvSpPr>
          <p:cNvPr id="97" name="Google Shape;97;p17"/>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Project Demo</a:t>
            </a:r>
            <a:endParaRPr sz="2600">
              <a:solidFill>
                <a:srgbClr val="E0F7F5"/>
              </a:solidFill>
              <a:latin typeface="Montserrat"/>
              <a:ea typeface="Montserrat"/>
              <a:cs typeface="Montserrat"/>
              <a:sym typeface="Montserrat"/>
            </a:endParaRPr>
          </a:p>
        </p:txBody>
      </p:sp>
      <p:pic>
        <p:nvPicPr>
          <p:cNvPr id="98" name="Google Shape;98;p17"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99" name="Google Shape;99;p17"/>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100" name="Google Shape;100;p17"/>
          <p:cNvSpPr txBox="1"/>
          <p:nvPr/>
        </p:nvSpPr>
        <p:spPr>
          <a:xfrm>
            <a:off x="8464350" y="4546225"/>
            <a:ext cx="4503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05</a:t>
            </a:r>
            <a:endParaRPr sz="1300"/>
          </a:p>
        </p:txBody>
      </p:sp>
      <p:pic>
        <p:nvPicPr>
          <p:cNvPr id="101" name="Google Shape;101;p17"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102" name="Google Shape;102;p17"/>
          <p:cNvSpPr txBox="1"/>
          <p:nvPr/>
        </p:nvSpPr>
        <p:spPr>
          <a:xfrm>
            <a:off x="1792500" y="1784650"/>
            <a:ext cx="5559300" cy="569400"/>
          </a:xfrm>
          <a:prstGeom prst="rect">
            <a:avLst/>
          </a:prstGeom>
          <a:solidFill>
            <a:srgbClr val="A08F9A"/>
          </a:solidFill>
          <a:ln>
            <a:noFill/>
          </a:ln>
        </p:spPr>
        <p:txBody>
          <a:bodyPr anchorCtr="0" anchor="t" bIns="91425" lIns="91425" spcFirstLastPara="1" rIns="91425" wrap="square" tIns="91425">
            <a:spAutoFit/>
          </a:bodyPr>
          <a:lstStyle/>
          <a:p>
            <a:pPr indent="0" lvl="0" marL="0" rtl="0" algn="ctr">
              <a:lnSpc>
                <a:spcPct val="100000"/>
              </a:lnSpc>
              <a:spcBef>
                <a:spcPts val="1400"/>
              </a:spcBef>
              <a:spcAft>
                <a:spcPts val="400"/>
              </a:spcAft>
              <a:buNone/>
            </a:pPr>
            <a:r>
              <a:rPr lang="en-GB" sz="2500">
                <a:solidFill>
                  <a:srgbClr val="E0F7F5"/>
                </a:solidFill>
                <a:latin typeface="Montserrat Medium"/>
                <a:ea typeface="Montserrat Medium"/>
                <a:cs typeface="Montserrat Medium"/>
                <a:sym typeface="Montserrat Medium"/>
              </a:rPr>
              <a:t>Step 3: Entry to Smart Cart Hub</a:t>
            </a:r>
            <a:endParaRPr sz="1300">
              <a:solidFill>
                <a:schemeClr val="dk1"/>
              </a:solidFill>
            </a:endParaRPr>
          </a:p>
        </p:txBody>
      </p:sp>
      <p:sp>
        <p:nvSpPr>
          <p:cNvPr id="103" name="Google Shape;103;p17"/>
          <p:cNvSpPr txBox="1"/>
          <p:nvPr/>
        </p:nvSpPr>
        <p:spPr>
          <a:xfrm>
            <a:off x="1765350" y="2479988"/>
            <a:ext cx="5964900" cy="16701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1300"/>
              </a:spcBef>
              <a:spcAft>
                <a:spcPts val="0"/>
              </a:spcAft>
              <a:buNone/>
            </a:pPr>
            <a:r>
              <a:rPr lang="en-GB" sz="1600">
                <a:solidFill>
                  <a:srgbClr val="E0F7F5"/>
                </a:solidFill>
                <a:latin typeface="Open Sans"/>
                <a:ea typeface="Open Sans"/>
                <a:cs typeface="Open Sans"/>
                <a:sym typeface="Open Sans"/>
              </a:rPr>
              <a:t>Our home page greets you with three magical cards:</a:t>
            </a:r>
            <a:endParaRPr sz="1600">
              <a:solidFill>
                <a:srgbClr val="E0F7F5"/>
              </a:solidFill>
              <a:latin typeface="Open Sans"/>
              <a:ea typeface="Open Sans"/>
              <a:cs typeface="Open Sans"/>
              <a:sym typeface="Open Sans"/>
            </a:endParaRPr>
          </a:p>
          <a:p>
            <a:pPr indent="0" lvl="0" marL="0" rtl="0" algn="just">
              <a:lnSpc>
                <a:spcPct val="100000"/>
              </a:lnSpc>
              <a:spcBef>
                <a:spcPts val="1300"/>
              </a:spcBef>
              <a:spcAft>
                <a:spcPts val="0"/>
              </a:spcAft>
              <a:buNone/>
            </a:pPr>
            <a:r>
              <a:rPr lang="en-GB" sz="1600">
                <a:solidFill>
                  <a:srgbClr val="E0F7F5"/>
                </a:solidFill>
                <a:latin typeface="Open Sans"/>
                <a:ea typeface="Open Sans"/>
                <a:cs typeface="Open Sans"/>
                <a:sym typeface="Open Sans"/>
              </a:rPr>
              <a:t>Get Suggestions – Not sure what to buy? We’ve got ideas.</a:t>
            </a:r>
            <a:endParaRPr sz="1600">
              <a:solidFill>
                <a:srgbClr val="E0F7F5"/>
              </a:solidFill>
              <a:latin typeface="Open Sans"/>
              <a:ea typeface="Open Sans"/>
              <a:cs typeface="Open Sans"/>
              <a:sym typeface="Open Sans"/>
            </a:endParaRPr>
          </a:p>
          <a:p>
            <a:pPr indent="0" lvl="0" marL="0" rtl="0" algn="just">
              <a:lnSpc>
                <a:spcPct val="100000"/>
              </a:lnSpc>
              <a:spcBef>
                <a:spcPts val="1300"/>
              </a:spcBef>
              <a:spcAft>
                <a:spcPts val="0"/>
              </a:spcAft>
              <a:buNone/>
            </a:pPr>
            <a:r>
              <a:rPr lang="en-GB" sz="1600">
                <a:solidFill>
                  <a:srgbClr val="E0F7F5"/>
                </a:solidFill>
                <a:latin typeface="Open Sans"/>
                <a:ea typeface="Open Sans"/>
                <a:cs typeface="Open Sans"/>
                <a:sym typeface="Open Sans"/>
              </a:rPr>
              <a:t>Get Alternatives – Out of stock? No stress.</a:t>
            </a:r>
            <a:endParaRPr sz="1600">
              <a:solidFill>
                <a:srgbClr val="E0F7F5"/>
              </a:solidFill>
              <a:latin typeface="Open Sans"/>
              <a:ea typeface="Open Sans"/>
              <a:cs typeface="Open Sans"/>
              <a:sym typeface="Open Sans"/>
            </a:endParaRPr>
          </a:p>
          <a:p>
            <a:pPr indent="0" lvl="0" marL="0" rtl="0" algn="just">
              <a:lnSpc>
                <a:spcPct val="100000"/>
              </a:lnSpc>
              <a:spcBef>
                <a:spcPts val="1300"/>
              </a:spcBef>
              <a:spcAft>
                <a:spcPts val="1300"/>
              </a:spcAft>
              <a:buNone/>
            </a:pPr>
            <a:r>
              <a:rPr lang="en-GB" sz="1600">
                <a:solidFill>
                  <a:srgbClr val="E0F7F5"/>
                </a:solidFill>
                <a:latin typeface="Open Sans"/>
                <a:ea typeface="Open Sans"/>
                <a:cs typeface="Open Sans"/>
                <a:sym typeface="Open Sans"/>
              </a:rPr>
              <a:t>Get Navigation Path – Find the fastest way through the aisles.</a:t>
            </a:r>
            <a:endParaRPr sz="1600">
              <a:solidFill>
                <a:srgbClr val="E0F7F5"/>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107" name="Shape 107"/>
        <p:cNvGrpSpPr/>
        <p:nvPr/>
      </p:nvGrpSpPr>
      <p:grpSpPr>
        <a:xfrm>
          <a:off x="0" y="0"/>
          <a:ext cx="0" cy="0"/>
          <a:chOff x="0" y="0"/>
          <a:chExt cx="0" cy="0"/>
        </a:xfrm>
      </p:grpSpPr>
      <p:sp>
        <p:nvSpPr>
          <p:cNvPr id="108" name="Google Shape;108;p18"/>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Project Demo</a:t>
            </a:r>
            <a:endParaRPr sz="2600">
              <a:solidFill>
                <a:srgbClr val="E0F7F5"/>
              </a:solidFill>
              <a:latin typeface="Montserrat"/>
              <a:ea typeface="Montserrat"/>
              <a:cs typeface="Montserrat"/>
              <a:sym typeface="Montserrat"/>
            </a:endParaRPr>
          </a:p>
        </p:txBody>
      </p:sp>
      <p:pic>
        <p:nvPicPr>
          <p:cNvPr id="109" name="Google Shape;109;p18"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110" name="Google Shape;110;p18"/>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111" name="Google Shape;111;p18"/>
          <p:cNvSpPr txBox="1"/>
          <p:nvPr/>
        </p:nvSpPr>
        <p:spPr>
          <a:xfrm>
            <a:off x="8464350" y="4546225"/>
            <a:ext cx="6798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06</a:t>
            </a:r>
            <a:endParaRPr sz="1300"/>
          </a:p>
        </p:txBody>
      </p:sp>
      <p:pic>
        <p:nvPicPr>
          <p:cNvPr id="112" name="Google Shape;112;p18"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113" name="Google Shape;113;p18"/>
          <p:cNvSpPr txBox="1"/>
          <p:nvPr/>
        </p:nvSpPr>
        <p:spPr>
          <a:xfrm>
            <a:off x="1792500" y="1784650"/>
            <a:ext cx="5559300" cy="569400"/>
          </a:xfrm>
          <a:prstGeom prst="rect">
            <a:avLst/>
          </a:prstGeom>
          <a:solidFill>
            <a:srgbClr val="A08F9A"/>
          </a:solidFill>
          <a:ln>
            <a:noFill/>
          </a:ln>
        </p:spPr>
        <p:txBody>
          <a:bodyPr anchorCtr="0" anchor="t" bIns="91425" lIns="91425" spcFirstLastPara="1" rIns="91425" wrap="square" tIns="91425">
            <a:spAutoFit/>
          </a:bodyPr>
          <a:lstStyle/>
          <a:p>
            <a:pPr indent="0" lvl="0" marL="0" rtl="0" algn="ctr">
              <a:lnSpc>
                <a:spcPct val="100000"/>
              </a:lnSpc>
              <a:spcBef>
                <a:spcPts val="1400"/>
              </a:spcBef>
              <a:spcAft>
                <a:spcPts val="400"/>
              </a:spcAft>
              <a:buNone/>
            </a:pPr>
            <a:r>
              <a:rPr lang="en-GB" sz="2500">
                <a:solidFill>
                  <a:srgbClr val="E0F7F5"/>
                </a:solidFill>
                <a:latin typeface="Montserrat Medium"/>
                <a:ea typeface="Montserrat Medium"/>
                <a:cs typeface="Montserrat Medium"/>
                <a:sym typeface="Montserrat Medium"/>
              </a:rPr>
              <a:t>Step 4: Snap it, Shop smart</a:t>
            </a:r>
            <a:endParaRPr sz="1300">
              <a:solidFill>
                <a:schemeClr val="dk1"/>
              </a:solidFill>
            </a:endParaRPr>
          </a:p>
        </p:txBody>
      </p:sp>
      <p:sp>
        <p:nvSpPr>
          <p:cNvPr id="114" name="Google Shape;114;p18"/>
          <p:cNvSpPr txBox="1"/>
          <p:nvPr/>
        </p:nvSpPr>
        <p:spPr>
          <a:xfrm>
            <a:off x="1792800" y="2571750"/>
            <a:ext cx="5559300" cy="1730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300"/>
              </a:spcBef>
              <a:spcAft>
                <a:spcPts val="0"/>
              </a:spcAft>
              <a:buClr>
                <a:schemeClr val="dk1"/>
              </a:buClr>
              <a:buSzPts val="1100"/>
              <a:buFont typeface="Arial"/>
              <a:buNone/>
            </a:pPr>
            <a:r>
              <a:rPr lang="en-GB" sz="1600">
                <a:solidFill>
                  <a:srgbClr val="E0F7F5"/>
                </a:solidFill>
                <a:latin typeface="Open Sans"/>
                <a:ea typeface="Open Sans"/>
                <a:cs typeface="Open Sans"/>
                <a:sym typeface="Open Sans"/>
              </a:rPr>
              <a:t>Capture pics of products right from the store shelf — our AI saves you from decision fatigue, and analyzes price, brand, reviews, and quality to suggest the </a:t>
            </a:r>
            <a:r>
              <a:rPr i="1" lang="en-GB" sz="1600">
                <a:solidFill>
                  <a:srgbClr val="E0F7F5"/>
                </a:solidFill>
                <a:latin typeface="Open Sans"/>
                <a:ea typeface="Open Sans"/>
                <a:cs typeface="Open Sans"/>
                <a:sym typeface="Open Sans"/>
              </a:rPr>
              <a:t>best pick</a:t>
            </a:r>
            <a:r>
              <a:rPr lang="en-GB" sz="1600">
                <a:solidFill>
                  <a:srgbClr val="E0F7F5"/>
                </a:solidFill>
                <a:latin typeface="Open Sans"/>
                <a:ea typeface="Open Sans"/>
                <a:cs typeface="Open Sans"/>
                <a:sym typeface="Open Sans"/>
              </a:rPr>
              <a:t> just for you.</a:t>
            </a:r>
            <a:endParaRPr sz="1600">
              <a:solidFill>
                <a:srgbClr val="E0F7F5"/>
              </a:solidFill>
              <a:latin typeface="Open Sans"/>
              <a:ea typeface="Open Sans"/>
              <a:cs typeface="Open Sans"/>
              <a:sym typeface="Open Sans"/>
            </a:endParaRPr>
          </a:p>
          <a:p>
            <a:pPr indent="0" lvl="0" marL="0" rtl="0" algn="just">
              <a:lnSpc>
                <a:spcPct val="115000"/>
              </a:lnSpc>
              <a:spcBef>
                <a:spcPts val="1300"/>
              </a:spcBef>
              <a:spcAft>
                <a:spcPts val="1300"/>
              </a:spcAft>
              <a:buNone/>
            </a:pPr>
            <a:r>
              <a:t/>
            </a:r>
            <a:endParaRPr sz="1600">
              <a:solidFill>
                <a:srgbClr val="E0F7F5"/>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118" name="Shape 118"/>
        <p:cNvGrpSpPr/>
        <p:nvPr/>
      </p:nvGrpSpPr>
      <p:grpSpPr>
        <a:xfrm>
          <a:off x="0" y="0"/>
          <a:ext cx="0" cy="0"/>
          <a:chOff x="0" y="0"/>
          <a:chExt cx="0" cy="0"/>
        </a:xfrm>
      </p:grpSpPr>
      <p:sp>
        <p:nvSpPr>
          <p:cNvPr id="119" name="Google Shape;119;p19"/>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Project Demo</a:t>
            </a:r>
            <a:endParaRPr sz="2600">
              <a:solidFill>
                <a:srgbClr val="E0F7F5"/>
              </a:solidFill>
              <a:latin typeface="Montserrat"/>
              <a:ea typeface="Montserrat"/>
              <a:cs typeface="Montserrat"/>
              <a:sym typeface="Montserrat"/>
            </a:endParaRPr>
          </a:p>
        </p:txBody>
      </p:sp>
      <p:pic>
        <p:nvPicPr>
          <p:cNvPr id="120" name="Google Shape;120;p19"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121" name="Google Shape;121;p19"/>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122" name="Google Shape;122;p19"/>
          <p:cNvSpPr txBox="1"/>
          <p:nvPr/>
        </p:nvSpPr>
        <p:spPr>
          <a:xfrm>
            <a:off x="8464350" y="4546225"/>
            <a:ext cx="4503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07</a:t>
            </a:r>
            <a:endParaRPr sz="1300"/>
          </a:p>
        </p:txBody>
      </p:sp>
      <p:pic>
        <p:nvPicPr>
          <p:cNvPr id="123" name="Google Shape;123;p19"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124" name="Google Shape;124;p19"/>
          <p:cNvSpPr txBox="1"/>
          <p:nvPr/>
        </p:nvSpPr>
        <p:spPr>
          <a:xfrm>
            <a:off x="1792500" y="1784650"/>
            <a:ext cx="5559300" cy="569400"/>
          </a:xfrm>
          <a:prstGeom prst="rect">
            <a:avLst/>
          </a:prstGeom>
          <a:solidFill>
            <a:srgbClr val="A08F9A"/>
          </a:solidFill>
          <a:ln>
            <a:noFill/>
          </a:ln>
        </p:spPr>
        <p:txBody>
          <a:bodyPr anchorCtr="0" anchor="t" bIns="91425" lIns="91425" spcFirstLastPara="1" rIns="91425" wrap="square" tIns="91425">
            <a:spAutoFit/>
          </a:bodyPr>
          <a:lstStyle/>
          <a:p>
            <a:pPr indent="0" lvl="0" marL="0" rtl="0" algn="ctr">
              <a:lnSpc>
                <a:spcPct val="100000"/>
              </a:lnSpc>
              <a:spcBef>
                <a:spcPts val="1400"/>
              </a:spcBef>
              <a:spcAft>
                <a:spcPts val="400"/>
              </a:spcAft>
              <a:buNone/>
            </a:pPr>
            <a:r>
              <a:rPr lang="en-GB" sz="2500">
                <a:solidFill>
                  <a:srgbClr val="E0F7F5"/>
                </a:solidFill>
                <a:latin typeface="Montserrat Medium"/>
                <a:ea typeface="Montserrat Medium"/>
                <a:cs typeface="Montserrat Medium"/>
                <a:sym typeface="Montserrat Medium"/>
              </a:rPr>
              <a:t>Step 5: </a:t>
            </a:r>
            <a:r>
              <a:rPr lang="en-GB" sz="2500">
                <a:solidFill>
                  <a:srgbClr val="E0F7F5"/>
                </a:solidFill>
                <a:latin typeface="Montserrat Medium"/>
                <a:ea typeface="Montserrat Medium"/>
                <a:cs typeface="Montserrat Medium"/>
                <a:sym typeface="Montserrat Medium"/>
              </a:rPr>
              <a:t>No Stock? No Problem.</a:t>
            </a:r>
            <a:endParaRPr sz="1300">
              <a:solidFill>
                <a:schemeClr val="dk1"/>
              </a:solidFill>
            </a:endParaRPr>
          </a:p>
        </p:txBody>
      </p:sp>
      <p:sp>
        <p:nvSpPr>
          <p:cNvPr id="125" name="Google Shape;125;p19"/>
          <p:cNvSpPr txBox="1"/>
          <p:nvPr/>
        </p:nvSpPr>
        <p:spPr>
          <a:xfrm>
            <a:off x="1792800" y="2571750"/>
            <a:ext cx="5559300" cy="99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300"/>
              </a:spcBef>
              <a:spcAft>
                <a:spcPts val="1300"/>
              </a:spcAft>
              <a:buNone/>
            </a:pPr>
            <a:r>
              <a:rPr lang="en-GB" sz="1600">
                <a:solidFill>
                  <a:srgbClr val="EFF6FF"/>
                </a:solidFill>
                <a:latin typeface="Open Sans"/>
                <a:ea typeface="Open Sans"/>
                <a:cs typeface="Open Sans"/>
                <a:sym typeface="Open Sans"/>
              </a:rPr>
              <a:t>If your item’s missing, Viare finds the next best thing—closest match in quality, price, and brand—so your trip (and recipe!) stays on track. </a:t>
            </a:r>
            <a:endParaRPr sz="1600">
              <a:solidFill>
                <a:srgbClr val="EFF6FF"/>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129" name="Shape 129"/>
        <p:cNvGrpSpPr/>
        <p:nvPr/>
      </p:nvGrpSpPr>
      <p:grpSpPr>
        <a:xfrm>
          <a:off x="0" y="0"/>
          <a:ext cx="0" cy="0"/>
          <a:chOff x="0" y="0"/>
          <a:chExt cx="0" cy="0"/>
        </a:xfrm>
      </p:grpSpPr>
      <p:sp>
        <p:nvSpPr>
          <p:cNvPr id="130" name="Google Shape;130;p20"/>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Project Demo</a:t>
            </a:r>
            <a:endParaRPr sz="2600">
              <a:solidFill>
                <a:srgbClr val="E0F7F5"/>
              </a:solidFill>
              <a:latin typeface="Montserrat"/>
              <a:ea typeface="Montserrat"/>
              <a:cs typeface="Montserrat"/>
              <a:sym typeface="Montserrat"/>
            </a:endParaRPr>
          </a:p>
        </p:txBody>
      </p:sp>
      <p:pic>
        <p:nvPicPr>
          <p:cNvPr id="131" name="Google Shape;131;p20"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132" name="Google Shape;132;p20"/>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133" name="Google Shape;133;p20"/>
          <p:cNvSpPr txBox="1"/>
          <p:nvPr/>
        </p:nvSpPr>
        <p:spPr>
          <a:xfrm>
            <a:off x="8464350" y="4546225"/>
            <a:ext cx="4503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07</a:t>
            </a:r>
            <a:endParaRPr sz="1300"/>
          </a:p>
        </p:txBody>
      </p:sp>
      <p:pic>
        <p:nvPicPr>
          <p:cNvPr id="134" name="Google Shape;134;p20"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135" name="Google Shape;135;p20"/>
          <p:cNvSpPr txBox="1"/>
          <p:nvPr/>
        </p:nvSpPr>
        <p:spPr>
          <a:xfrm>
            <a:off x="1792500" y="1784650"/>
            <a:ext cx="5559300" cy="569400"/>
          </a:xfrm>
          <a:prstGeom prst="rect">
            <a:avLst/>
          </a:prstGeom>
          <a:solidFill>
            <a:srgbClr val="A08F9A"/>
          </a:solidFill>
          <a:ln>
            <a:noFill/>
          </a:ln>
        </p:spPr>
        <p:txBody>
          <a:bodyPr anchorCtr="0" anchor="t" bIns="91425" lIns="91425" spcFirstLastPara="1" rIns="91425" wrap="square" tIns="91425">
            <a:spAutoFit/>
          </a:bodyPr>
          <a:lstStyle/>
          <a:p>
            <a:pPr indent="0" lvl="0" marL="0" rtl="0" algn="ctr">
              <a:lnSpc>
                <a:spcPct val="100000"/>
              </a:lnSpc>
              <a:spcBef>
                <a:spcPts val="1400"/>
              </a:spcBef>
              <a:spcAft>
                <a:spcPts val="400"/>
              </a:spcAft>
              <a:buNone/>
            </a:pPr>
            <a:r>
              <a:rPr lang="en-GB" sz="2500">
                <a:solidFill>
                  <a:srgbClr val="E0F7F5"/>
                </a:solidFill>
                <a:latin typeface="Montserrat Medium"/>
                <a:ea typeface="Montserrat Medium"/>
                <a:cs typeface="Montserrat Medium"/>
                <a:sym typeface="Montserrat Medium"/>
              </a:rPr>
              <a:t>Step 6: From List to Aisles</a:t>
            </a:r>
            <a:endParaRPr sz="1300">
              <a:solidFill>
                <a:schemeClr val="dk1"/>
              </a:solidFill>
            </a:endParaRPr>
          </a:p>
        </p:txBody>
      </p:sp>
      <p:sp>
        <p:nvSpPr>
          <p:cNvPr id="136" name="Google Shape;136;p20"/>
          <p:cNvSpPr txBox="1"/>
          <p:nvPr/>
        </p:nvSpPr>
        <p:spPr>
          <a:xfrm>
            <a:off x="1792800" y="2571750"/>
            <a:ext cx="5559300" cy="99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300"/>
              </a:spcBef>
              <a:spcAft>
                <a:spcPts val="1300"/>
              </a:spcAft>
              <a:buNone/>
            </a:pPr>
            <a:r>
              <a:rPr lang="en-GB" sz="1600">
                <a:solidFill>
                  <a:srgbClr val="E0F7F5"/>
                </a:solidFill>
                <a:latin typeface="Open Sans"/>
                <a:ea typeface="Open Sans"/>
                <a:cs typeface="Open Sans"/>
                <a:sym typeface="Open Sans"/>
              </a:rPr>
              <a:t>Tap Get Navigation and land on our smart planner — just upload your grocery list, and we’ll map the fastest route through the store.</a:t>
            </a:r>
            <a:endParaRPr sz="1600">
              <a:solidFill>
                <a:srgbClr val="E0F7F5"/>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140" name="Shape 140"/>
        <p:cNvGrpSpPr/>
        <p:nvPr/>
      </p:nvGrpSpPr>
      <p:grpSpPr>
        <a:xfrm>
          <a:off x="0" y="0"/>
          <a:ext cx="0" cy="0"/>
          <a:chOff x="0" y="0"/>
          <a:chExt cx="0" cy="0"/>
        </a:xfrm>
      </p:grpSpPr>
      <p:sp>
        <p:nvSpPr>
          <p:cNvPr id="141" name="Google Shape;141;p21"/>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Project Demo</a:t>
            </a:r>
            <a:endParaRPr sz="2600">
              <a:solidFill>
                <a:srgbClr val="E0F7F5"/>
              </a:solidFill>
              <a:latin typeface="Montserrat"/>
              <a:ea typeface="Montserrat"/>
              <a:cs typeface="Montserrat"/>
              <a:sym typeface="Montserrat"/>
            </a:endParaRPr>
          </a:p>
        </p:txBody>
      </p:sp>
      <p:pic>
        <p:nvPicPr>
          <p:cNvPr id="142" name="Google Shape;142;p21"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143" name="Google Shape;143;p21"/>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144" name="Google Shape;144;p21"/>
          <p:cNvSpPr txBox="1"/>
          <p:nvPr/>
        </p:nvSpPr>
        <p:spPr>
          <a:xfrm>
            <a:off x="8464350" y="4546225"/>
            <a:ext cx="4503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07</a:t>
            </a:r>
            <a:endParaRPr sz="1300"/>
          </a:p>
        </p:txBody>
      </p:sp>
      <p:pic>
        <p:nvPicPr>
          <p:cNvPr id="145" name="Google Shape;145;p21"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146" name="Google Shape;146;p21"/>
          <p:cNvSpPr txBox="1"/>
          <p:nvPr/>
        </p:nvSpPr>
        <p:spPr>
          <a:xfrm>
            <a:off x="1792500" y="1784650"/>
            <a:ext cx="5559300" cy="569400"/>
          </a:xfrm>
          <a:prstGeom prst="rect">
            <a:avLst/>
          </a:prstGeom>
          <a:solidFill>
            <a:srgbClr val="A08F9A"/>
          </a:solidFill>
          <a:ln>
            <a:noFill/>
          </a:ln>
        </p:spPr>
        <p:txBody>
          <a:bodyPr anchorCtr="0" anchor="t" bIns="91425" lIns="91425" spcFirstLastPara="1" rIns="91425" wrap="square" tIns="91425">
            <a:spAutoFit/>
          </a:bodyPr>
          <a:lstStyle/>
          <a:p>
            <a:pPr indent="0" lvl="0" marL="0" rtl="0" algn="ctr">
              <a:lnSpc>
                <a:spcPct val="100000"/>
              </a:lnSpc>
              <a:spcBef>
                <a:spcPts val="1400"/>
              </a:spcBef>
              <a:spcAft>
                <a:spcPts val="400"/>
              </a:spcAft>
              <a:buNone/>
            </a:pPr>
            <a:r>
              <a:rPr lang="en-GB" sz="2500">
                <a:solidFill>
                  <a:srgbClr val="E0F7F5"/>
                </a:solidFill>
                <a:latin typeface="Montserrat Medium"/>
                <a:ea typeface="Montserrat Medium"/>
                <a:cs typeface="Montserrat Medium"/>
                <a:sym typeface="Montserrat Medium"/>
              </a:rPr>
              <a:t>Step 7: Your In-Store GPS</a:t>
            </a:r>
            <a:endParaRPr sz="1300">
              <a:solidFill>
                <a:schemeClr val="dk1"/>
              </a:solidFill>
            </a:endParaRPr>
          </a:p>
        </p:txBody>
      </p:sp>
      <p:sp>
        <p:nvSpPr>
          <p:cNvPr id="147" name="Google Shape;147;p21"/>
          <p:cNvSpPr txBox="1"/>
          <p:nvPr/>
        </p:nvSpPr>
        <p:spPr>
          <a:xfrm>
            <a:off x="1792800" y="2571750"/>
            <a:ext cx="5559300" cy="99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300"/>
              </a:spcBef>
              <a:spcAft>
                <a:spcPts val="1300"/>
              </a:spcAft>
              <a:buNone/>
            </a:pPr>
            <a:r>
              <a:rPr lang="en-GB" sz="1600">
                <a:solidFill>
                  <a:srgbClr val="EFF6FF"/>
                </a:solidFill>
                <a:latin typeface="Open Sans"/>
                <a:ea typeface="Open Sans"/>
                <a:cs typeface="Open Sans"/>
                <a:sym typeface="Open Sans"/>
              </a:rPr>
              <a:t>Get clear, step-by-step directions — Viare tells you which aisle, where to stop, and what to grab so you glide through your list without backtracking. </a:t>
            </a:r>
            <a:endParaRPr sz="1600">
              <a:solidFill>
                <a:srgbClr val="EFF6FF"/>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151" name="Shape 151"/>
        <p:cNvGrpSpPr/>
        <p:nvPr/>
      </p:nvGrpSpPr>
      <p:grpSpPr>
        <a:xfrm>
          <a:off x="0" y="0"/>
          <a:ext cx="0" cy="0"/>
          <a:chOff x="0" y="0"/>
          <a:chExt cx="0" cy="0"/>
        </a:xfrm>
      </p:grpSpPr>
      <p:sp>
        <p:nvSpPr>
          <p:cNvPr id="152" name="Google Shape;152;p22"/>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Project Demo</a:t>
            </a:r>
            <a:endParaRPr sz="2600">
              <a:solidFill>
                <a:srgbClr val="E0F7F5"/>
              </a:solidFill>
              <a:latin typeface="Montserrat"/>
              <a:ea typeface="Montserrat"/>
              <a:cs typeface="Montserrat"/>
              <a:sym typeface="Montserrat"/>
            </a:endParaRPr>
          </a:p>
        </p:txBody>
      </p:sp>
      <p:pic>
        <p:nvPicPr>
          <p:cNvPr id="153" name="Google Shape;153;p22"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154" name="Google Shape;154;p22"/>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155" name="Google Shape;155;p22"/>
          <p:cNvSpPr txBox="1"/>
          <p:nvPr/>
        </p:nvSpPr>
        <p:spPr>
          <a:xfrm>
            <a:off x="8464350" y="4546225"/>
            <a:ext cx="6795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08</a:t>
            </a:r>
            <a:endParaRPr sz="1300"/>
          </a:p>
        </p:txBody>
      </p:sp>
      <p:pic>
        <p:nvPicPr>
          <p:cNvPr id="156" name="Google Shape;156;p22"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157" name="Google Shape;157;p22"/>
          <p:cNvSpPr txBox="1"/>
          <p:nvPr/>
        </p:nvSpPr>
        <p:spPr>
          <a:xfrm>
            <a:off x="1792350" y="1195850"/>
            <a:ext cx="5559300" cy="569400"/>
          </a:xfrm>
          <a:prstGeom prst="rect">
            <a:avLst/>
          </a:prstGeom>
          <a:solidFill>
            <a:srgbClr val="A08F9A"/>
          </a:solidFill>
          <a:ln>
            <a:noFill/>
          </a:ln>
        </p:spPr>
        <p:txBody>
          <a:bodyPr anchorCtr="0" anchor="t" bIns="91425" lIns="91425" spcFirstLastPara="1" rIns="91425" wrap="square" tIns="91425">
            <a:spAutoFit/>
          </a:bodyPr>
          <a:lstStyle/>
          <a:p>
            <a:pPr indent="0" lvl="0" marL="0" rtl="0" algn="ctr">
              <a:lnSpc>
                <a:spcPct val="100000"/>
              </a:lnSpc>
              <a:spcBef>
                <a:spcPts val="1400"/>
              </a:spcBef>
              <a:spcAft>
                <a:spcPts val="400"/>
              </a:spcAft>
              <a:buNone/>
            </a:pPr>
            <a:r>
              <a:rPr lang="en-GB" sz="2500">
                <a:solidFill>
                  <a:srgbClr val="E0F7F5"/>
                </a:solidFill>
                <a:latin typeface="Montserrat Medium"/>
                <a:ea typeface="Montserrat Medium"/>
                <a:cs typeface="Montserrat Medium"/>
                <a:sym typeface="Montserrat Medium"/>
              </a:rPr>
              <a:t>What’s there for the sellers?</a:t>
            </a:r>
            <a:endParaRPr sz="1300">
              <a:solidFill>
                <a:schemeClr val="dk1"/>
              </a:solidFill>
            </a:endParaRPr>
          </a:p>
        </p:txBody>
      </p:sp>
      <p:sp>
        <p:nvSpPr>
          <p:cNvPr id="158" name="Google Shape;158;p22"/>
          <p:cNvSpPr txBox="1"/>
          <p:nvPr/>
        </p:nvSpPr>
        <p:spPr>
          <a:xfrm>
            <a:off x="1186650" y="2040338"/>
            <a:ext cx="6770700" cy="2230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300"/>
              </a:spcBef>
              <a:spcAft>
                <a:spcPts val="0"/>
              </a:spcAft>
              <a:buNone/>
            </a:pPr>
            <a:r>
              <a:rPr lang="en-GB" sz="1600">
                <a:solidFill>
                  <a:srgbClr val="EFF6FF"/>
                </a:solidFill>
                <a:latin typeface="Montserrat"/>
                <a:ea typeface="Montserrat"/>
                <a:cs typeface="Montserrat"/>
                <a:sym typeface="Montserrat"/>
              </a:rPr>
              <a:t>Get real-time insights on what’s selling and what’s not.</a:t>
            </a:r>
            <a:endParaRPr sz="1600">
              <a:solidFill>
                <a:srgbClr val="EFF6FF"/>
              </a:solidFill>
              <a:latin typeface="Montserrat"/>
              <a:ea typeface="Montserrat"/>
              <a:cs typeface="Montserrat"/>
              <a:sym typeface="Montserrat"/>
            </a:endParaRPr>
          </a:p>
          <a:p>
            <a:pPr indent="0" lvl="0" marL="0" rtl="0" algn="ctr">
              <a:lnSpc>
                <a:spcPct val="115000"/>
              </a:lnSpc>
              <a:spcBef>
                <a:spcPts val="1300"/>
              </a:spcBef>
              <a:spcAft>
                <a:spcPts val="0"/>
              </a:spcAft>
              <a:buNone/>
            </a:pPr>
            <a:r>
              <a:rPr lang="en-GB" sz="1600">
                <a:solidFill>
                  <a:srgbClr val="EFF6FF"/>
                </a:solidFill>
                <a:latin typeface="Montserrat"/>
                <a:ea typeface="Montserrat"/>
                <a:cs typeface="Montserrat"/>
                <a:sym typeface="Montserrat"/>
              </a:rPr>
              <a:t>Know your hot shelves and cold zones instantly.</a:t>
            </a:r>
            <a:endParaRPr sz="1600">
              <a:solidFill>
                <a:srgbClr val="EFF6FF"/>
              </a:solidFill>
              <a:latin typeface="Montserrat"/>
              <a:ea typeface="Montserrat"/>
              <a:cs typeface="Montserrat"/>
              <a:sym typeface="Montserrat"/>
            </a:endParaRPr>
          </a:p>
          <a:p>
            <a:pPr indent="0" lvl="0" marL="0" rtl="0" algn="ctr">
              <a:lnSpc>
                <a:spcPct val="115000"/>
              </a:lnSpc>
              <a:spcBef>
                <a:spcPts val="1300"/>
              </a:spcBef>
              <a:spcAft>
                <a:spcPts val="0"/>
              </a:spcAft>
              <a:buNone/>
            </a:pPr>
            <a:r>
              <a:rPr lang="en-GB" sz="1600">
                <a:solidFill>
                  <a:srgbClr val="EFF6FF"/>
                </a:solidFill>
                <a:latin typeface="Montserrat"/>
                <a:ea typeface="Montserrat"/>
                <a:cs typeface="Montserrat"/>
                <a:sym typeface="Montserrat"/>
              </a:rPr>
              <a:t>Rearrange aisles smarter to boost visibility and sales.</a:t>
            </a:r>
            <a:endParaRPr sz="1600">
              <a:solidFill>
                <a:srgbClr val="EFF6FF"/>
              </a:solidFill>
              <a:latin typeface="Montserrat"/>
              <a:ea typeface="Montserrat"/>
              <a:cs typeface="Montserrat"/>
              <a:sym typeface="Montserrat"/>
            </a:endParaRPr>
          </a:p>
          <a:p>
            <a:pPr indent="0" lvl="0" marL="0" rtl="0" algn="ctr">
              <a:lnSpc>
                <a:spcPct val="115000"/>
              </a:lnSpc>
              <a:spcBef>
                <a:spcPts val="1300"/>
              </a:spcBef>
              <a:spcAft>
                <a:spcPts val="0"/>
              </a:spcAft>
              <a:buNone/>
            </a:pPr>
            <a:r>
              <a:rPr lang="en-GB" sz="1600">
                <a:solidFill>
                  <a:srgbClr val="EFF6FF"/>
                </a:solidFill>
                <a:latin typeface="Montserrat"/>
                <a:ea typeface="Montserrat"/>
                <a:cs typeface="Montserrat"/>
                <a:sym typeface="Montserrat"/>
              </a:rPr>
              <a:t>Run targeted in-store promotions that actually work.</a:t>
            </a:r>
            <a:endParaRPr sz="1600">
              <a:solidFill>
                <a:srgbClr val="EFF6FF"/>
              </a:solidFill>
              <a:latin typeface="Montserrat"/>
              <a:ea typeface="Montserrat"/>
              <a:cs typeface="Montserrat"/>
              <a:sym typeface="Montserrat"/>
            </a:endParaRPr>
          </a:p>
          <a:p>
            <a:pPr indent="0" lvl="0" marL="0" rtl="0" algn="ctr">
              <a:lnSpc>
                <a:spcPct val="115000"/>
              </a:lnSpc>
              <a:spcBef>
                <a:spcPts val="1300"/>
              </a:spcBef>
              <a:spcAft>
                <a:spcPts val="1300"/>
              </a:spcAft>
              <a:buNone/>
            </a:pPr>
            <a:r>
              <a:rPr lang="en-GB" sz="1600">
                <a:solidFill>
                  <a:srgbClr val="EFF6FF"/>
                </a:solidFill>
                <a:latin typeface="Montserrat"/>
                <a:ea typeface="Montserrat"/>
                <a:cs typeface="Montserrat"/>
                <a:sym typeface="Montserrat"/>
              </a:rPr>
              <a:t>Stock what people want — cut waste, increase revenue.</a:t>
            </a:r>
            <a:endParaRPr sz="1600">
              <a:solidFill>
                <a:srgbClr val="EFF6FF"/>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9488"/>
        </a:solidFill>
      </p:bgPr>
    </p:bg>
    <p:spTree>
      <p:nvGrpSpPr>
        <p:cNvPr id="162" name="Shape 162"/>
        <p:cNvGrpSpPr/>
        <p:nvPr/>
      </p:nvGrpSpPr>
      <p:grpSpPr>
        <a:xfrm>
          <a:off x="0" y="0"/>
          <a:ext cx="0" cy="0"/>
          <a:chOff x="0" y="0"/>
          <a:chExt cx="0" cy="0"/>
        </a:xfrm>
      </p:grpSpPr>
      <p:sp>
        <p:nvSpPr>
          <p:cNvPr id="163" name="Google Shape;163;p23"/>
          <p:cNvSpPr txBox="1"/>
          <p:nvPr>
            <p:ph idx="1" type="subTitle"/>
          </p:nvPr>
        </p:nvSpPr>
        <p:spPr>
          <a:xfrm>
            <a:off x="955041" y="230642"/>
            <a:ext cx="7585500" cy="5841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80000"/>
              </a:lnSpc>
              <a:spcBef>
                <a:spcPts val="0"/>
              </a:spcBef>
              <a:spcAft>
                <a:spcPts val="0"/>
              </a:spcAft>
              <a:buSzPts val="865"/>
              <a:buNone/>
            </a:pPr>
            <a:r>
              <a:rPr lang="en-GB" sz="2600">
                <a:solidFill>
                  <a:srgbClr val="E0F7F5"/>
                </a:solidFill>
                <a:latin typeface="Montserrat"/>
                <a:ea typeface="Montserrat"/>
                <a:cs typeface="Montserrat"/>
                <a:sym typeface="Montserrat"/>
              </a:rPr>
              <a:t>Viare Grocery &gt; Further Additions</a:t>
            </a:r>
            <a:endParaRPr sz="2600">
              <a:solidFill>
                <a:srgbClr val="E0F7F5"/>
              </a:solidFill>
              <a:latin typeface="Montserrat"/>
              <a:ea typeface="Montserrat"/>
              <a:cs typeface="Montserrat"/>
              <a:sym typeface="Montserrat"/>
            </a:endParaRPr>
          </a:p>
        </p:txBody>
      </p:sp>
      <p:pic>
        <p:nvPicPr>
          <p:cNvPr id="164" name="Google Shape;164;p23" title="Group 1410125846 (1).png"/>
          <p:cNvPicPr preferRelativeResize="0"/>
          <p:nvPr/>
        </p:nvPicPr>
        <p:blipFill>
          <a:blip r:embed="rId3">
            <a:alphaModFix/>
          </a:blip>
          <a:stretch>
            <a:fillRect/>
          </a:stretch>
        </p:blipFill>
        <p:spPr>
          <a:xfrm>
            <a:off x="6623100" y="0"/>
            <a:ext cx="2520899" cy="1566948"/>
          </a:xfrm>
          <a:prstGeom prst="rect">
            <a:avLst/>
          </a:prstGeom>
          <a:noFill/>
          <a:ln>
            <a:noFill/>
          </a:ln>
        </p:spPr>
      </p:pic>
      <p:cxnSp>
        <p:nvCxnSpPr>
          <p:cNvPr id="165" name="Google Shape;165;p23"/>
          <p:cNvCxnSpPr/>
          <p:nvPr/>
        </p:nvCxnSpPr>
        <p:spPr>
          <a:xfrm flipH="1" rot="10800000">
            <a:off x="372300" y="4546225"/>
            <a:ext cx="8399400" cy="21900"/>
          </a:xfrm>
          <a:prstGeom prst="straightConnector1">
            <a:avLst/>
          </a:prstGeom>
          <a:noFill/>
          <a:ln cap="flat" cmpd="sng" w="9525">
            <a:solidFill>
              <a:schemeClr val="lt1"/>
            </a:solidFill>
            <a:prstDash val="solid"/>
            <a:round/>
            <a:headEnd len="med" w="med" type="none"/>
            <a:tailEnd len="med" w="med" type="none"/>
          </a:ln>
        </p:spPr>
      </p:cxnSp>
      <p:sp>
        <p:nvSpPr>
          <p:cNvPr id="166" name="Google Shape;166;p23"/>
          <p:cNvSpPr txBox="1"/>
          <p:nvPr/>
        </p:nvSpPr>
        <p:spPr>
          <a:xfrm>
            <a:off x="8464350" y="4546225"/>
            <a:ext cx="525600" cy="391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GB" sz="1679">
                <a:solidFill>
                  <a:schemeClr val="lt1"/>
                </a:solidFill>
                <a:latin typeface="Montserrat"/>
                <a:ea typeface="Montserrat"/>
                <a:cs typeface="Montserrat"/>
                <a:sym typeface="Montserrat"/>
              </a:rPr>
              <a:t>09</a:t>
            </a:r>
            <a:endParaRPr sz="1300"/>
          </a:p>
        </p:txBody>
      </p:sp>
      <p:pic>
        <p:nvPicPr>
          <p:cNvPr id="167" name="Google Shape;167;p23" title="logo.png"/>
          <p:cNvPicPr preferRelativeResize="0"/>
          <p:nvPr/>
        </p:nvPicPr>
        <p:blipFill>
          <a:blip r:embed="rId4">
            <a:alphaModFix/>
          </a:blip>
          <a:stretch>
            <a:fillRect/>
          </a:stretch>
        </p:blipFill>
        <p:spPr>
          <a:xfrm>
            <a:off x="69275" y="-99050"/>
            <a:ext cx="990000" cy="990000"/>
          </a:xfrm>
          <a:prstGeom prst="rect">
            <a:avLst/>
          </a:prstGeom>
          <a:noFill/>
          <a:ln>
            <a:noFill/>
          </a:ln>
          <a:effectLst>
            <a:outerShdw blurRad="57150" rotWithShape="0" algn="bl" dir="5400000" dist="19050">
              <a:srgbClr val="000000">
                <a:alpha val="50000"/>
              </a:srgbClr>
            </a:outerShdw>
          </a:effectLst>
        </p:spPr>
      </p:pic>
      <p:sp>
        <p:nvSpPr>
          <p:cNvPr id="168" name="Google Shape;168;p23"/>
          <p:cNvSpPr txBox="1"/>
          <p:nvPr/>
        </p:nvSpPr>
        <p:spPr>
          <a:xfrm>
            <a:off x="868475" y="1125563"/>
            <a:ext cx="6735900" cy="274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900">
                <a:solidFill>
                  <a:srgbClr val="E0F7F5"/>
                </a:solidFill>
                <a:latin typeface="Montserrat"/>
                <a:ea typeface="Montserrat"/>
                <a:cs typeface="Montserrat"/>
                <a:sym typeface="Montserrat"/>
              </a:rPr>
              <a:t>OUR FUTURE PLANS</a:t>
            </a:r>
            <a:endParaRPr b="1" sz="1900">
              <a:solidFill>
                <a:srgbClr val="E0F7F5"/>
              </a:solidFill>
              <a:latin typeface="Montserrat"/>
              <a:ea typeface="Montserrat"/>
              <a:cs typeface="Montserrat"/>
              <a:sym typeface="Montserrat"/>
            </a:endParaRPr>
          </a:p>
          <a:p>
            <a:pPr indent="0" lvl="0" marL="0" rtl="0" algn="l">
              <a:lnSpc>
                <a:spcPct val="115000"/>
              </a:lnSpc>
              <a:spcBef>
                <a:spcPts val="0"/>
              </a:spcBef>
              <a:spcAft>
                <a:spcPts val="0"/>
              </a:spcAft>
              <a:buNone/>
            </a:pPr>
            <a:r>
              <a:rPr lang="en-GB" sz="1600">
                <a:solidFill>
                  <a:srgbClr val="E0F7F5"/>
                </a:solidFill>
                <a:latin typeface="Montserrat"/>
                <a:ea typeface="Montserrat"/>
                <a:cs typeface="Montserrat"/>
                <a:sym typeface="Montserrat"/>
              </a:rPr>
              <a:t>In the future, Viare will do even more. Shoppers will get real-time alerts when their most frequently bought items go on promotion — right as they enter the store. We’ll also introduce dynamic promo triggers based on buying behavior, and even smarter shelf analytics to help stores adapt on the fly. From personalized offers to data that drives layout changes, we’re building the future of in-store retail — intelligent, responsive, and customer-first.</a:t>
            </a:r>
            <a:endParaRPr sz="1600">
              <a:solidFill>
                <a:srgbClr val="E0F7F5"/>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